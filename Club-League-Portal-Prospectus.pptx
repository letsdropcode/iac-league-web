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8e7e3145324411" /><Relationship Type="http://schemas.openxmlformats.org/officeDocument/2006/relationships/extended-properties" Target="/docProps/app.xml" Id="R072c98c31f494c15" /><Relationship Type="http://schemas.openxmlformats.org/officeDocument/2006/relationships/officeDocument" Target="/ppt/presentation.xml" Id="R050da4a60b20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35e0979e74f0b"/>
  </p:sldMasterIdLst>
  <p:notesMasterIdLst>
    <p:notesMasterId xmlns:r="http://schemas.openxmlformats.org/officeDocument/2006/relationships" r:id="R344d46234ffc4e81"/>
  </p:notesMasterIdLst>
  <p:sldIdLst>
    <p:sldId xmlns:r="http://schemas.openxmlformats.org/officeDocument/2006/relationships" id="256" r:id="R117edf0c7945449e"/>
    <p:sldId xmlns:r="http://schemas.openxmlformats.org/officeDocument/2006/relationships" id="257" r:id="R8e275c71f8494c77"/>
    <p:sldId xmlns:r="http://schemas.openxmlformats.org/officeDocument/2006/relationships" id="258" r:id="Rb6254af2caa84f18"/>
    <p:sldId xmlns:r="http://schemas.openxmlformats.org/officeDocument/2006/relationships" id="259" r:id="R9db51c103674481e"/>
    <p:sldId xmlns:r="http://schemas.openxmlformats.org/officeDocument/2006/relationships" id="260" r:id="Rbf8f038b15184842"/>
    <p:sldId xmlns:r="http://schemas.openxmlformats.org/officeDocument/2006/relationships" id="261" r:id="R60fca7c126b9433a"/>
    <p:sldId xmlns:r="http://schemas.openxmlformats.org/officeDocument/2006/relationships" id="262" r:id="R90fb1d72e11c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f39ab898654c56" /><Relationship Type="http://schemas.openxmlformats.org/officeDocument/2006/relationships/slideMaster" Target="/ppt/slideMasters/slideMaster1.xml" Id="R29935e0979e74f0b" /><Relationship Type="http://schemas.openxmlformats.org/officeDocument/2006/relationships/notesMaster" Target="/ppt/notesMasters/notesMaster1.xml" Id="R344d46234ffc4e81" /><Relationship Type="http://schemas.openxmlformats.org/officeDocument/2006/relationships/presProps" Target="/ppt/presProps.xml" Id="Rfef8d4ad17ed4c83" /><Relationship Type="http://schemas.openxmlformats.org/officeDocument/2006/relationships/tableStyles" Target="/ppt/tableStyles.xml" Id="R844430d453f54c51" /><Relationship Type="http://schemas.openxmlformats.org/officeDocument/2006/relationships/slide" Target="/ppt/slides/slide1.xml" Id="R117edf0c7945449e" /><Relationship Type="http://schemas.openxmlformats.org/officeDocument/2006/relationships/slide" Target="/ppt/slides/slide2.xml" Id="R8e275c71f8494c77" /><Relationship Type="http://schemas.openxmlformats.org/officeDocument/2006/relationships/slide" Target="/ppt/slides/slide3.xml" Id="Rb6254af2caa84f18" /><Relationship Type="http://schemas.openxmlformats.org/officeDocument/2006/relationships/slide" Target="/ppt/slides/slide4.xml" Id="R9db51c103674481e" /><Relationship Type="http://schemas.openxmlformats.org/officeDocument/2006/relationships/slide" Target="/ppt/slides/slide5.xml" Id="Rbf8f038b15184842" /><Relationship Type="http://schemas.openxmlformats.org/officeDocument/2006/relationships/slide" Target="/ppt/slides/slide6.xml" Id="R60fca7c126b9433a" /><Relationship Type="http://schemas.openxmlformats.org/officeDocument/2006/relationships/slide" Target="/ppt/slides/slide7.xml" Id="R90fb1d72e11c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32fd723333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665334d07437b" /><Relationship Type="http://schemas.openxmlformats.org/officeDocument/2006/relationships/notesMaster" Target="/ppt/notesMasters/notesMaster1.xml" Id="R41e77c2c7bec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9a7f0eb0604e06" /><Relationship Type="http://schemas.openxmlformats.org/officeDocument/2006/relationships/notesMaster" Target="/ppt/notesMasters/notesMaster1.xml" Id="R9f3e834ff5e845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9eaaa9a13e4744" /><Relationship Type="http://schemas.openxmlformats.org/officeDocument/2006/relationships/notesMaster" Target="/ppt/notesMasters/notesMaster1.xml" Id="R65a680ac1c0d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e0cbf9591d4636" /><Relationship Type="http://schemas.openxmlformats.org/officeDocument/2006/relationships/notesMaster" Target="/ppt/notesMasters/notesMaster1.xml" Id="R514544d12d7649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ff41c34bc4d5a" /><Relationship Type="http://schemas.openxmlformats.org/officeDocument/2006/relationships/notesMaster" Target="/ppt/notesMasters/notesMaster1.xml" Id="Re1fed6f0808f49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205914aa94f24" /><Relationship Type="http://schemas.openxmlformats.org/officeDocument/2006/relationships/notesMaster" Target="/ppt/notesMasters/notesMaster1.xml" Id="Ra7645a2549a24d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cea4af7df74c1f" /><Relationship Type="http://schemas.openxmlformats.org/officeDocument/2006/relationships/notesMaster" Target="/ppt/notesMasters/notesMaster1.xml" Id="R0078182b464042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c8d5dd469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5f560b64fe4c26" /><Relationship Type="http://schemas.openxmlformats.org/officeDocument/2006/relationships/slideLayout" Target="/ppt/slideLayouts/slideLayout1.xml" Id="R1c4125cffc7849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4125cffc7849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9c1d94b11471d" /><Relationship Type="http://schemas.openxmlformats.org/officeDocument/2006/relationships/notesSlide" Target="/ppt/notesSlides/notesSlide1.xml" Id="R8bfe47c2e8c747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19569392f497e" /><Relationship Type="http://schemas.openxmlformats.org/officeDocument/2006/relationships/notesSlide" Target="/ppt/notesSlides/notesSlide2.xml" Id="R856ff0880a4942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271ddd84a4a19" /><Relationship Type="http://schemas.openxmlformats.org/officeDocument/2006/relationships/notesSlide" Target="/ppt/notesSlides/notesSlide3.xml" Id="R0a9deeba58744f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8c7b657a04120" /><Relationship Type="http://schemas.openxmlformats.org/officeDocument/2006/relationships/notesSlide" Target="/ppt/notesSlides/notesSlide4.xml" Id="R09697742692b46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b86828e8e40eb" /><Relationship Type="http://schemas.openxmlformats.org/officeDocument/2006/relationships/notesSlide" Target="/ppt/notesSlides/notesSlide5.xml" Id="R5d6c2df00daa4c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19880935e4f22" /><Relationship Type="http://schemas.openxmlformats.org/officeDocument/2006/relationships/notesSlide" Target="/ppt/notesSlides/notesSlide6.xml" Id="R790dd682795241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11d8893864206" /><Relationship Type="http://schemas.openxmlformats.org/officeDocument/2006/relationships/notesSlide" Target="/ppt/notesSlides/notesSlide7.xml" Id="R32e35301e994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0E8C1-A400-4ACB-8C96-28182501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58AB1-C32B-4E54-BAD8-40F4696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8822-36B3-4459-BCFD-B5D90ECF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FFFFFF"/>
                </a:solidFill>
              </a:defRPr>
            </a:pPr>
            <a:r>
              <a:rPr sz="975" b="1" spc="2">
                <a:solidFill>
                  <a:srgbClr val="FFFFFF"/>
                </a:solidFill>
              </a:rPr>
              <a:t>CLUB LEAGUE PORTAL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0988E-B5F8-4B04-B834-51AD18F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76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An easier way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to run your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club league.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B2A20-CEA1-4715-82BE-BBF788CD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E6F6EB"/>
                </a:solidFill>
              </a:defRPr>
            </a:pPr>
            <a:r>
              <a:rPr sz="1350">
                <a:solidFill>
                  <a:srgbClr val="E6F6EB"/>
                </a:solidFill>
              </a:rPr>
              <a:t>A practical, branded league portal - ready to make your results clearer for every athlete.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F9A92-30D7-4D22-9D28-7A9400C8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0015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AE271-CC0C-4617-B3ED-38F19F5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676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00" b="1">
                <a:solidFill>
                  <a:srgbClr val="18352B"/>
                </a:solidFill>
              </a:defRPr>
            </a:pPr>
            <a:r>
              <a:rPr sz="3300" b="1">
                <a:solidFill>
                  <a:srgbClr val="18352B"/>
                </a:solidFill>
              </a:rPr>
              <a:t>Your club gets one clear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3300" b="1">
                <a:solidFill>
                  <a:srgbClr val="18352B"/>
                </a:solidFill>
              </a:defRPr>
            </a:pPr>
            <a:r>
              <a:rPr sz="3300" b="1">
                <a:solidFill>
                  <a:srgbClr val="18352B"/>
                </a:solidFill>
              </a:rPr>
              <a:t>place for results, points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3300" b="1">
                <a:solidFill>
                  <a:srgbClr val="18352B"/>
                </a:solidFill>
              </a:defRPr>
            </a:pPr>
            <a:r>
              <a:rPr sz="3300" b="1">
                <a:solidFill>
                  <a:srgbClr val="18352B"/>
                </a:solidFill>
              </a:rPr>
              <a:t>and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5A5FE-A5BC-4F28-8F65-C1EC18E8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81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B64"/>
                </a:solidFill>
              </a:defRPr>
            </a:pPr>
            <a:r>
              <a:rPr sz="1575">
                <a:solidFill>
                  <a:srgbClr val="5C6B64"/>
                </a:solidFill>
              </a:rPr>
              <a:t>Pricing &amp; implementation prospectus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ADCD6-B095-4BF3-AC3E-A22AD542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5848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5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72DAA-B6D0-4ADA-85DF-177F6CC1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19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287D42"/>
                </a:solidFill>
              </a:defRPr>
            </a:pPr>
            <a:r>
              <a:rPr sz="900" b="1" spc="1">
                <a:solidFill>
                  <a:srgbClr val="287D42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C2F6E-11ED-4E1B-88C2-AD64EE0C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B"/>
                </a:solidFill>
              </a:defRPr>
            </a:pPr>
            <a:r>
              <a:rPr sz="2625" b="1">
                <a:solidFill>
                  <a:srgbClr val="18352B"/>
                </a:solidFill>
              </a:rPr>
              <a:t>R12,500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5AA43-15C0-4945-ABF5-2DFBF6B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87D42"/>
                </a:solidFill>
              </a:defRPr>
            </a:pPr>
            <a:r>
              <a:rPr sz="1350" b="1">
                <a:solidFill>
                  <a:srgbClr val="287D42"/>
                </a:solidFill>
              </a:rPr>
              <a:t>Live in approximately 5 working days*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E2E48-682B-4185-A1B9-4E19F6C3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791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B64"/>
                </a:solidFill>
              </a:defRPr>
            </a:pPr>
            <a:r>
              <a:rPr sz="900">
                <a:solidFill>
                  <a:srgbClr val="5C6B64"/>
                </a:solidFill>
              </a:rPr>
              <a:t>*From receipt of the agreed information and files.</a:t>
            </a:r>
          </a:p>
        </p:txBody>
      </p:sp>
    </p:spTree>
    <p:extLst>
      <p:ext uri="{BB962C8B-B14F-4D97-AF65-F5344CB8AC3E}">
        <p14:creationId xmlns:p14="http://schemas.microsoft.com/office/powerpoint/2010/main" val="541482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2C225-EA39-4161-A226-44F347FF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287D42"/>
                </a:solidFill>
              </a:defRPr>
            </a:pPr>
            <a:r>
              <a:rPr sz="750" b="1" spc="1">
                <a:solidFill>
                  <a:srgbClr val="287D42"/>
                </a:solidFill>
              </a:rPr>
              <a:t>CLUB LEAGUE PORTAL  |  PROSPECTUS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BB943-4C6B-4E90-B107-CD668745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87D42"/>
                </a:solidFill>
              </a:defRPr>
            </a:pPr>
            <a:r>
              <a:rPr sz="750" b="1">
                <a:solidFill>
                  <a:srgbClr val="287D4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22E23-10DD-42E0-B91C-063EFB50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925" b="1">
                <a:solidFill>
                  <a:srgbClr val="18352B"/>
                </a:solidFill>
              </a:defRPr>
            </a:pPr>
            <a:r>
              <a:rPr sz="2925" b="1">
                <a:solidFill>
                  <a:srgbClr val="18352B"/>
                </a:solidFill>
              </a:rPr>
              <a:t>Your league should not live in spreadsheets and WhatsApp messages.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0936F-5805-43D4-9DC9-E05128A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FC7F9-DC26-4AE5-826F-46C32579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B64"/>
                </a:solidFill>
              </a:defRPr>
            </a:pPr>
            <a:r>
              <a:rPr sz="1575">
                <a:solidFill>
                  <a:srgbClr val="5C6B64"/>
                </a:solidFill>
              </a:rPr>
              <a:t>The portal gives athletes a reliable, public view of the league while keeping result administration simple for the club.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E6D97-C188-49C0-8DCD-5D95AF2E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333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9FBBC-1326-4762-8E52-75180BD1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D42"/>
                </a:solidFill>
              </a:defRPr>
            </a:pPr>
            <a:r>
              <a:rPr sz="1875" b="1">
                <a:solidFill>
                  <a:srgbClr val="287D42"/>
                </a:solidFill>
              </a:rPr>
              <a:t>For athletes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31BA7-326B-4638-AB79-29B079C3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8352B"/>
                </a:solidFill>
              </a:defRPr>
            </a:pPr>
            <a:r>
              <a:rPr sz="1500">
                <a:solidFill>
                  <a:srgbClr val="18352B"/>
                </a:solidFill>
              </a:rPr>
              <a:t>See current rank, points, race history and the next person to chase.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DB411-11E0-4AD1-A29E-C5D0C619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90850"/>
            <a:ext cx="3333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B5CC4-B759-40E0-A70E-2CB35B9B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051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D42"/>
                </a:solidFill>
              </a:defRPr>
            </a:pPr>
            <a:r>
              <a:rPr sz="1875" b="1">
                <a:solidFill>
                  <a:srgbClr val="287D42"/>
                </a:solidFill>
              </a:rPr>
              <a:t>For administrators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06688-A09E-4FDF-B584-C11FA53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0047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8352B"/>
                </a:solidFill>
              </a:defRPr>
            </a:pPr>
            <a:r>
              <a:rPr sz="1500">
                <a:solidFill>
                  <a:srgbClr val="18352B"/>
                </a:solidFill>
              </a:rPr>
              <a:t>Upload results, recalculate automatically and keep one consistent points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6D610-E07E-4B11-9963-A1623017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3147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57309-F065-406A-AA08-D234B347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051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D42"/>
                </a:solidFill>
              </a:defRPr>
            </a:pPr>
            <a:r>
              <a:rPr sz="1875" b="1">
                <a:solidFill>
                  <a:srgbClr val="287D42"/>
                </a:solidFill>
              </a:rPr>
              <a:t>For the club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329E5-2098-4612-835F-C081517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8352B"/>
                </a:solidFill>
              </a:defRPr>
            </a:pPr>
            <a:r>
              <a:rPr sz="1500">
                <a:solidFill>
                  <a:srgbClr val="18352B"/>
                </a:solidFill>
              </a:rPr>
              <a:t>A club-branded home for the league that is ready to share with members.</a:t>
            </a:r>
          </a:p>
        </p:txBody>
      </p:sp>
    </p:spTree>
    <p:extLst>
      <p:ext uri="{BB962C8B-B14F-4D97-AF65-F5344CB8AC3E}">
        <p14:creationId xmlns:p14="http://schemas.microsoft.com/office/powerpoint/2010/main" val="1417526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6EACC-2FD6-4970-BCA1-5049D7D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287D42"/>
                </a:solidFill>
              </a:defRPr>
            </a:pPr>
            <a:r>
              <a:rPr sz="750" b="1" spc="1">
                <a:solidFill>
                  <a:srgbClr val="287D42"/>
                </a:solidFill>
              </a:rPr>
              <a:t>CLUB LEAGUE PORTAL  |  PROSPECTUS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CFA98-7D88-4479-95D6-5A5F8DF7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87D42"/>
                </a:solidFill>
              </a:defRPr>
            </a:pPr>
            <a:r>
              <a:rPr sz="750" b="1">
                <a:solidFill>
                  <a:srgbClr val="287D4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55B51-FDD3-4437-A67F-3D790D6A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52B"/>
                </a:solidFill>
              </a:defRPr>
            </a:pPr>
            <a:r>
              <a:rPr sz="3150" b="1">
                <a:solidFill>
                  <a:srgbClr val="18352B"/>
                </a:solidFill>
              </a:rPr>
              <a:t>What your club receives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DDAB9-74A3-4082-A685-557A1C4E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23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B64"/>
                </a:solidFill>
              </a:defRPr>
            </a:pPr>
            <a:r>
              <a:rPr sz="1500">
                <a:solidFill>
                  <a:srgbClr val="5C6B64"/>
                </a:solidFill>
              </a:rPr>
              <a:t>The core system is already built and working. Your implementation configures it for your club.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C01E0-77C4-417E-99FC-BE62EDE2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27165-15AD-4C59-9816-BA24AB6F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B336E-7309-41A4-A090-49E7F1E1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431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52B"/>
                </a:solidFill>
              </a:defRPr>
            </a:pPr>
            <a:r>
              <a:rPr sz="1650" b="1">
                <a:solidFill>
                  <a:srgbClr val="18352B"/>
                </a:solidFill>
              </a:rPr>
              <a:t>Public leaderboards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56D08-3A87-4604-B372-C4ED4A7A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Separate Run and Walk views, clear rankings and a current league overview.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DC9D5-549E-41E0-976B-17A1AC08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7874E-CA10-422B-8039-1B190B3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447C2-AD4B-4849-A822-D74FA8A6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52B"/>
                </a:solidFill>
              </a:defRPr>
            </a:pPr>
            <a:r>
              <a:rPr sz="1650" b="1">
                <a:solidFill>
                  <a:srgbClr val="18352B"/>
                </a:solidFill>
              </a:rPr>
              <a:t>Athlete profiles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CB7BD-4E58-49B9-8044-991E4BC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62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Individual pages show race history, finish times, points and close rivals.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5933E-5B21-42F0-8B60-449BD8B9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62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4AF44-7B35-49B3-91D0-308EF51E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19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AB273-268A-4BDF-9278-E268D573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52B"/>
                </a:solidFill>
              </a:defRPr>
            </a:pPr>
            <a:r>
              <a:rPr sz="1650" b="1">
                <a:solidFill>
                  <a:srgbClr val="18352B"/>
                </a:solidFill>
              </a:rPr>
              <a:t>Protected result uploads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73649-30A5-4F71-ACC9-7D4C5A9E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An authorised administrator uploads CSV or Excel results and the table recalculates.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86BEB-B835-4703-8168-342A5304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3AF65-AD30-402B-B9C7-5813D45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DD570-64A4-4EAD-8099-443F8D85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52B"/>
                </a:solidFill>
              </a:defRPr>
            </a:pPr>
            <a:r>
              <a:rPr sz="1650" b="1">
                <a:solidFill>
                  <a:srgbClr val="18352B"/>
                </a:solidFill>
              </a:rPr>
              <a:t>Transparent points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FC5B4-D202-46F6-B20D-36FE92E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A public points page makes the scoring approach easy for athletes to understand.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7CAD3-995B-4DF9-A0E9-672F8D9B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CFBB7-BD5E-4F5F-8431-7CC257E0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625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42"/>
                </a:solidFill>
              </a:defRPr>
            </a:pPr>
            <a:r>
              <a:rPr sz="1800" b="1">
                <a:solidFill>
                  <a:srgbClr val="287D42"/>
                </a:solidFill>
              </a:rPr>
              <a:t>Built for a club league, not a generic race-results website.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3ABA6-1166-4266-9EDA-CE17AE2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48325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Simple for members. Manageable for your committee.</a:t>
            </a:r>
          </a:p>
        </p:txBody>
      </p:sp>
    </p:spTree>
    <p:extLst>
      <p:ext uri="{BB962C8B-B14F-4D97-AF65-F5344CB8AC3E}">
        <p14:creationId xmlns:p14="http://schemas.microsoft.com/office/powerpoint/2010/main" val="1124329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BC8FC-063A-40DE-A83F-3DA512D9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287D42"/>
                </a:solidFill>
              </a:defRPr>
            </a:pPr>
            <a:r>
              <a:rPr sz="750" b="1" spc="1">
                <a:solidFill>
                  <a:srgbClr val="287D42"/>
                </a:solidFill>
              </a:rPr>
              <a:t>CLUB LEAGUE PORTAL  |  PROSPECTUS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EFB3E-5DEC-4DB3-8D68-B646B370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87D42"/>
                </a:solidFill>
              </a:defRPr>
            </a:pPr>
            <a:r>
              <a:rPr sz="750" b="1">
                <a:solidFill>
                  <a:srgbClr val="287D4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F6335-6B01-435E-A718-8F72F6A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52B"/>
                </a:solidFill>
              </a:defRPr>
            </a:pPr>
            <a:r>
              <a:rPr sz="3000" b="1">
                <a:solidFill>
                  <a:srgbClr val="18352B"/>
                </a:solidFill>
              </a:rPr>
              <a:t>Implementation: allow 5 working days.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F863C-90F0-47B9-BD54-47AEE6ED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B64"/>
                </a:solidFill>
              </a:defRPr>
            </a:pPr>
            <a:r>
              <a:rPr sz="1425">
                <a:solidFill>
                  <a:srgbClr val="5C6B64"/>
                </a:solidFill>
              </a:rPr>
              <a:t>We allow enough time to set up the league properly, check the data and hand it over with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B5C8F-BEF7-45E0-B270-EA4A65F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E5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2EF23-AE96-497A-9B81-9EF201EC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D42"/>
                </a:solidFill>
              </a:defRPr>
            </a:pPr>
            <a:r>
              <a:rPr sz="1650" b="1">
                <a:solidFill>
                  <a:srgbClr val="287D4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7370C-DB8B-4864-95BA-CD831047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287D42"/>
                </a:solidFill>
              </a:defRPr>
            </a:pPr>
            <a:r>
              <a:rPr sz="975" b="1" spc="1">
                <a:solidFill>
                  <a:srgbClr val="287D42"/>
                </a:solidFill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FCDEA-09C1-4C56-9F54-3203118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Set-up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73700-7F25-422E-A73A-569DFD40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Receive branding, rules, categories and sample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DF226-FD5F-408F-939E-04FDF36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09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6F6EA-96E8-4579-A695-BF033566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E5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014C9-C08F-442C-8B45-03A4BE56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480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D42"/>
                </a:solidFill>
              </a:defRPr>
            </a:pPr>
            <a:r>
              <a:rPr sz="1650" b="1">
                <a:solidFill>
                  <a:srgbClr val="287D42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90170-D12B-4A6E-AF10-7FAE8A26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43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287D42"/>
                </a:solidFill>
              </a:defRPr>
            </a:pPr>
            <a:r>
              <a:rPr sz="975" b="1" spc="1">
                <a:solidFill>
                  <a:srgbClr val="287D42"/>
                </a:solidFill>
              </a:rPr>
              <a:t>Day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50198-E01F-42B4-8E21-FE59292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29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Configure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872AD-48F9-4CF3-8AA9-83CBB024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387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Apply club identity and points configuration.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B359F-0818-4FC1-BC12-E1352D0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4F810-F8DA-4ECA-932B-567F0494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E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9C5CC-5BA6-4537-9BDC-458DF29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480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D42"/>
                </a:solidFill>
              </a:defRPr>
            </a:pPr>
            <a:r>
              <a:rPr sz="1650" b="1">
                <a:solidFill>
                  <a:srgbClr val="287D42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9BF08-5EF0-4065-9E50-EA136D9A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287D42"/>
                </a:solidFill>
              </a:defRPr>
            </a:pPr>
            <a:r>
              <a:rPr sz="975" b="1" spc="1">
                <a:solidFill>
                  <a:srgbClr val="287D42"/>
                </a:solidFill>
              </a:rPr>
              <a:t>Days 3-4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EAA3E-484B-4595-921C-79958AA8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61139-3383-4257-8A7A-148B77CE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Import results, resolve file issues and test the rankings.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F826E-E8F3-4C2B-BBF8-A3E1EC5B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E3F26-EC75-402F-9066-A605D33E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42"/>
          </a:solidFill>
          <a:ln xmlns:a="http://schemas.openxmlformats.org/drawingml/2006/main" w="9525">
            <a:solidFill>
              <a:srgbClr val="287D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3CF75-F184-4FBF-AB75-0BF99717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480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CFD5F-2DE6-4FF0-ADF1-1B66C266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43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287D42"/>
                </a:solidFill>
              </a:defRPr>
            </a:pPr>
            <a:r>
              <a:rPr sz="975" b="1" spc="1">
                <a:solidFill>
                  <a:srgbClr val="287D42"/>
                </a:solidFill>
              </a:rPr>
              <a:t>Day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C2E4B-D3AF-4589-9D04-FE24A2DA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29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FD0D8-9F72-4B57-8CB8-93B220C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387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C6B64"/>
                </a:solidFill>
              </a:defRPr>
            </a:pPr>
            <a:r>
              <a:rPr sz="1200">
                <a:solidFill>
                  <a:srgbClr val="5C6B64"/>
                </a:solidFill>
              </a:rPr>
              <a:t>Deploy, check access and hand over the upload process.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75127-D6E0-4A29-8A70-E8BC27F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B64"/>
                </a:solidFill>
              </a:defRPr>
            </a:pPr>
            <a:r>
              <a:rPr sz="1050">
                <a:solidFill>
                  <a:srgbClr val="5C6B64"/>
                </a:solidFill>
              </a:rPr>
              <a:t>Timing assumes the required information is supplied promptly and the initial historical data is in CSV or XLSX format.</a:t>
            </a:r>
          </a:p>
        </p:txBody>
      </p:sp>
    </p:spTree>
    <p:extLst>
      <p:ext uri="{BB962C8B-B14F-4D97-AF65-F5344CB8AC3E}">
        <p14:creationId xmlns:p14="http://schemas.microsoft.com/office/powerpoint/2010/main" val="55607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17DC7-F5E0-4D0E-993A-286B3BBE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287D42"/>
                </a:solidFill>
              </a:defRPr>
            </a:pPr>
            <a:r>
              <a:rPr sz="750" b="1" spc="1">
                <a:solidFill>
                  <a:srgbClr val="287D42"/>
                </a:solidFill>
              </a:rPr>
              <a:t>CLUB LEAGUE PORTAL  |  PROSPECTUS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2E3CF-0952-4F96-95A0-87363AD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87D42"/>
                </a:solidFill>
              </a:defRPr>
            </a:pPr>
            <a:r>
              <a:rPr sz="750" b="1">
                <a:solidFill>
                  <a:srgbClr val="287D4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B0CB8-C564-4D95-AEE7-88435D59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52B"/>
                </a:solidFill>
              </a:defRPr>
            </a:pPr>
            <a:r>
              <a:rPr sz="3150" b="1">
                <a:solidFill>
                  <a:srgbClr val="18352B"/>
                </a:solidFill>
              </a:rPr>
              <a:t>A clear, fixed-price starting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E2468-2171-4A79-BC22-4F8EF514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59105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287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33449-75B4-41CF-9DDE-BEF4BD7C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DDF5E4"/>
                </a:solidFill>
              </a:defRPr>
            </a:pPr>
            <a:r>
              <a:rPr sz="975" b="1" spc="2">
                <a:solidFill>
                  <a:srgbClr val="DDF5E4"/>
                </a:solidFill>
              </a:rPr>
              <a:t>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530B0-A5AE-41C2-A356-35C1C4A9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R12,500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1D3D5-BBC6-4816-8D91-B6F16348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Once-off setup for one club.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FB01F-6BF1-4003-A110-6610824C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C6C44-91BA-4A19-9133-3300FE9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>
                <a:solidFill>
                  <a:srgbClr val="E7F6EB"/>
                </a:solidFill>
              </a:defRPr>
            </a:pPr>
            <a:r>
              <a:rPr sz="1275">
                <a:solidFill>
                  <a:srgbClr val="E7F6EB"/>
                </a:solidFill>
              </a:rPr>
              <a:t>Includes configuration, historical result import, testing, deployment and a handover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0455F-2248-4FDA-A24D-0B2D880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287D42"/>
                </a:solidFill>
              </a:defRPr>
            </a:pPr>
            <a:r>
              <a:rPr sz="975" b="1" spc="1">
                <a:solidFill>
                  <a:srgbClr val="287D42"/>
                </a:solidFill>
              </a:rPr>
              <a:t>ONGOING HOSTING &amp;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008EE-639A-4DC3-8E14-A8497DFB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8352B"/>
                </a:solidFill>
              </a:defRPr>
            </a:pPr>
            <a:r>
              <a:rPr sz="2775" b="1">
                <a:solidFill>
                  <a:srgbClr val="18352B"/>
                </a:solidFill>
              </a:rPr>
              <a:t>R500 /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2D663-47DE-4D56-8958-8F058062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64"/>
                </a:solidFill>
              </a:defRPr>
            </a:pPr>
            <a:r>
              <a:rPr sz="1350">
                <a:solidFill>
                  <a:srgbClr val="5C6B64"/>
                </a:solidFill>
              </a:rPr>
              <a:t>For hosting, basic support and the day-to-day running of the portal.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0FA93-510B-43DA-92F0-3CF06DDE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48075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E0E40-1189-4AC5-8EF3-0BE9FCBA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52B"/>
                </a:solidFill>
              </a:defRPr>
            </a:pPr>
            <a:r>
              <a:rPr sz="1650" b="1">
                <a:solidFill>
                  <a:srgbClr val="18352B"/>
                </a:solidFill>
              </a:rPr>
              <a:t>The fixed implementation includes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C111D-CEF2-43BA-B775-B1346EA2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275">
                <a:solidFill>
                  <a:srgbClr val="5C6B64"/>
                </a:solidFill>
              </a:defRPr>
            </a:pPr>
            <a:r>
              <a:rPr sz="1275">
                <a:solidFill>
                  <a:srgbClr val="5C6B64"/>
                </a:solidFill>
              </a:rPr>
              <a:t>• One club-branded portal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275">
                <a:solidFill>
                  <a:srgbClr val="5C6B64"/>
                </a:solidFill>
              </a:defRPr>
            </a:pPr>
            <a:r>
              <a:rPr sz="1275">
                <a:solidFill>
                  <a:srgbClr val="5C6B64"/>
                </a:solidFill>
              </a:rPr>
              <a:t>• Current feature set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275">
                <a:solidFill>
                  <a:srgbClr val="5C6B64"/>
                </a:solidFill>
              </a:defRPr>
            </a:pPr>
            <a:r>
              <a:rPr sz="1275">
                <a:solidFill>
                  <a:srgbClr val="5C6B64"/>
                </a:solidFill>
              </a:rPr>
              <a:t>• One branding review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275">
                <a:solidFill>
                  <a:srgbClr val="5C6B64"/>
                </a:solidFill>
              </a:defRPr>
            </a:pPr>
            <a:r>
              <a:rPr sz="1275">
                <a:solidFill>
                  <a:srgbClr val="5C6B64"/>
                </a:solidFill>
              </a:rPr>
              <a:t>• CSV/XLSX result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9A308-5B82-49F1-9DAF-CED791F8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64"/>
                </a:solidFill>
              </a:defRPr>
            </a:pPr>
            <a:r>
              <a:rPr sz="1125">
                <a:solidFill>
                  <a:srgbClr val="5C6B64"/>
                </a:solidFill>
              </a:rPr>
              <a:t>Custom functionality, major historical data clean-up and non-standard scoring are scoped separately before work begins.</a:t>
            </a:r>
          </a:p>
        </p:txBody>
      </p:sp>
    </p:spTree>
    <p:extLst>
      <p:ext uri="{BB962C8B-B14F-4D97-AF65-F5344CB8AC3E}">
        <p14:creationId xmlns:p14="http://schemas.microsoft.com/office/powerpoint/2010/main" val="1735712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2F17F-09FD-4892-8D5A-EAE259DC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287D42"/>
                </a:solidFill>
              </a:defRPr>
            </a:pPr>
            <a:r>
              <a:rPr sz="750" b="1" spc="1">
                <a:solidFill>
                  <a:srgbClr val="287D42"/>
                </a:solidFill>
              </a:rPr>
              <a:t>CLUB LEAGUE PORTAL  |  PROSPECTUS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DF8B9-8D81-402B-B903-4F2ED4A2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87D42"/>
                </a:solidFill>
              </a:defRPr>
            </a:pPr>
            <a:r>
              <a:rPr sz="750" b="1">
                <a:solidFill>
                  <a:srgbClr val="287D42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BCC95-2273-4B5A-AC9C-6D81741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52B"/>
                </a:solidFill>
              </a:defRPr>
            </a:pPr>
            <a:r>
              <a:rPr sz="3000" b="1">
                <a:solidFill>
                  <a:srgbClr val="18352B"/>
                </a:solidFill>
              </a:rPr>
              <a:t>What we need from your club to get started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71A8A-389A-491C-9B00-F5077513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B64"/>
                </a:solidFill>
              </a:defRPr>
            </a:pPr>
            <a:r>
              <a:rPr sz="1425">
                <a:solidFill>
                  <a:srgbClr val="5C6B64"/>
                </a:solidFill>
              </a:rPr>
              <a:t>Nothing complicated - just the information that makes the league yours.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A9DEF-2047-4D1D-9D38-E2DB9D7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9B45B"/>
                </a:solidFill>
              </a:defRPr>
            </a:pPr>
            <a:r>
              <a:rPr sz="2025" b="1">
                <a:solidFill>
                  <a:srgbClr val="49B45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1457B-D6F9-48AA-A4E7-E892473B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Club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08DF-66B4-4A0B-81B7-B2C8AA50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050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64"/>
                </a:solidFill>
              </a:defRPr>
            </a:pPr>
            <a:r>
              <a:rPr sz="1350">
                <a:solidFill>
                  <a:srgbClr val="5C6B64"/>
                </a:solidFill>
              </a:rPr>
              <a:t>Logo, preferred colours and the public name of your league.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FF4AA-A4FD-4EC1-A5A1-5D02B731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07630-48B1-4858-9649-EAE98A9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9B45B"/>
                </a:solidFill>
              </a:defRPr>
            </a:pPr>
            <a:r>
              <a:rPr sz="2025" b="1">
                <a:solidFill>
                  <a:srgbClr val="49B45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E2279-B478-4C0D-8D7B-A6A59DD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League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F8F73-E3F6-4C79-9352-E0DB14E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765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64"/>
                </a:solidFill>
              </a:defRPr>
            </a:pPr>
            <a:r>
              <a:rPr sz="1350">
                <a:solidFill>
                  <a:srgbClr val="5C6B64"/>
                </a:solidFill>
              </a:rPr>
              <a:t>Points tables, age categories, run/walk requirements and season approach.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DAB7E-F0AC-45A8-9BD7-F29DB293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098FF-12B1-4588-B109-390C86A0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9B45B"/>
                </a:solidFill>
              </a:defRPr>
            </a:pPr>
            <a:r>
              <a:rPr sz="2025" b="1">
                <a:solidFill>
                  <a:srgbClr val="49B45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112BC-8BDA-4C0C-BECD-3E450672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Race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7BEA6-6CED-497E-8946-25361D86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481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64"/>
                </a:solidFill>
              </a:defRPr>
            </a:pPr>
            <a:r>
              <a:rPr sz="1350">
                <a:solidFill>
                  <a:srgbClr val="5C6B64"/>
                </a:solidFill>
              </a:rPr>
              <a:t>Historical and current results in CSV or Excel format where possible.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74E7F-A2D5-45E9-B0D2-BC3465B1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84DE8-B453-4BD8-A1F5-274697A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9B45B"/>
                </a:solidFill>
              </a:defRPr>
            </a:pPr>
            <a:r>
              <a:rPr sz="2025" b="1">
                <a:solidFill>
                  <a:srgbClr val="49B45B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68BE6-C5BC-40CF-91EA-E97EAD11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52B"/>
                </a:solidFill>
              </a:defRPr>
            </a:pPr>
            <a:r>
              <a:rPr sz="1800" b="1">
                <a:solidFill>
                  <a:srgbClr val="18352B"/>
                </a:solidFill>
              </a:rPr>
              <a:t>Club contact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CE6E1-BD92-455B-8165-E0E071D4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196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64"/>
                </a:solidFill>
              </a:defRPr>
            </a:pPr>
            <a:r>
              <a:rPr sz="1350">
                <a:solidFill>
                  <a:srgbClr val="5C6B64"/>
                </a:solidFill>
              </a:rPr>
              <a:t>One person to answer questions and approve the final set-up.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0D2F5-EB2E-445E-9FAB-359C62DF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D4198-9A77-4CD7-8E7B-994F9FF4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971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BB3B5-0260-4505-83AD-ABE3EEA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7D42"/>
                </a:solidFill>
              </a:defRPr>
            </a:pPr>
            <a:r>
              <a:rPr sz="1125" b="1">
                <a:solidFill>
                  <a:srgbClr val="287D42"/>
                </a:solidFill>
              </a:rPr>
              <a:t>If your files need attention, we will flag it early and agree the additional work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365683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87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AD726-C2E2-45B2-A26C-19DA004F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51B26-7575-4F59-9385-0C78026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READY WHEN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YOUR CLUB 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2BEA-8B5D-47B1-BD93-3B6E5DD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E3F6E9"/>
                </a:solidFill>
              </a:defRPr>
            </a:pPr>
            <a:r>
              <a:rPr sz="1575">
                <a:solidFill>
                  <a:srgbClr val="E3F6E9"/>
                </a:solidFill>
              </a:rPr>
              <a:t>A clear league view is one of the simplest ways to keep members engaged and your committee in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52967-54E9-42B5-B86D-5C29F4D2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C8B2C-B8E4-4483-8F36-787D9ED3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67C95-19B3-4319-9642-9EFCEB24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E3F6E9"/>
                </a:solidFill>
              </a:defRPr>
            </a:pPr>
            <a:r>
              <a:rPr sz="1350">
                <a:solidFill>
                  <a:srgbClr val="E3F6E9"/>
                </a:solidFill>
              </a:rPr>
              <a:t>Send through your logo, points rules and a sample result file. We will confirm the implementation date and get the portal underway.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23825-E2A3-4AC8-9BE0-728F234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57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Club League Portal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A64B7-82E5-4B60-95D9-1DF2C95B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FF4E6"/>
                </a:solidFill>
              </a:defRPr>
            </a:pPr>
            <a:r>
              <a:rPr sz="1500">
                <a:solidFill>
                  <a:srgbClr val="DFF4E6"/>
                </a:solidFill>
              </a:rPr>
              <a:t>A practical league portal, built around the way clubs actually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4F192-0EC5-45A3-860E-A55F6F3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36671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E42CF-B565-476C-B4CC-FE2100B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287D42"/>
                </a:solidFill>
              </a:defRPr>
            </a:pPr>
            <a:r>
              <a:rPr sz="900" b="1" spc="1">
                <a:solidFill>
                  <a:srgbClr val="287D42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68D47-DCDE-47D1-B58B-9EB49C11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8352B"/>
                </a:solidFill>
              </a:defRPr>
            </a:pPr>
            <a:r>
              <a:rPr sz="2775" b="1">
                <a:solidFill>
                  <a:srgbClr val="18352B"/>
                </a:solidFill>
              </a:rPr>
              <a:t>R12,500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953F5-BE90-49DD-B091-F7AB560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433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D42"/>
                </a:solidFill>
              </a:defRPr>
            </a:pPr>
            <a:r>
              <a:rPr sz="1200" b="1">
                <a:solidFill>
                  <a:srgbClr val="287D42"/>
                </a:solidFill>
              </a:rPr>
              <a:t>Allow 5 working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D68FE-AE33-4F6F-8B84-3B097385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67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FF4E6"/>
                </a:solidFill>
              </a:defRPr>
            </a:pPr>
            <a:r>
              <a:rPr sz="975">
                <a:solidFill>
                  <a:srgbClr val="DFF4E6"/>
                </a:solidFill>
              </a:rPr>
              <a:t>Pricing &amp; implementation prospectus</a:t>
            </a:r>
          </a:p>
        </p:txBody>
      </p:sp>
    </p:spTree>
    <p:extLst>
      <p:ext uri="{BB962C8B-B14F-4D97-AF65-F5344CB8AC3E}">
        <p14:creationId xmlns:p14="http://schemas.microsoft.com/office/powerpoint/2010/main" val="796822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2026-08-28T21:54:52.6360000Z</dcterms:created>
  <dcterms:modified xsi:type="dcterms:W3CDTF">2026-08-28T21:54:52.6360000Z</dcterms:modified>
</coreProperties>
</file>